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4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457C2-04BD-4D61-9442-75A1DFCBA4E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8E6D7-2D6D-47D9-96F2-114433666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103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8E6D7-2D6D-47D9-96F2-11443366615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246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C121-A962-C254-6A78-8A4772CA7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615DE-0018-8DC3-0CC8-C47ECE126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E605F-BD4D-D0CB-4405-F1E90BD8A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3AE4B-EF8C-B598-BC8A-5B721A5A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8B81-E24F-503F-7DA4-85436FF1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124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2E031-5F9B-7632-9CCC-5D3BA93C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B28B1-9636-C15C-C240-C1D79D017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DB93F-795B-45A0-CF2E-481F3921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5052D-F03A-9361-47AB-9D519AA4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FA0C8-2467-14C0-004B-97DDE9CB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53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75AB-8E35-29EF-4071-33A34CE76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5F636-12AB-EA9F-2356-DDDAB3BE4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1DC5A-4653-4650-54DB-A6DDF057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794E5-8639-A521-6F37-A819C6948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5A78-E866-774F-F568-660DDFAF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52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8076D-42FB-5482-FEBE-CA21773BA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8BB17-739F-33A1-4320-80D2D7637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A44E9-D68B-8267-7256-FC7E5664E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85F21-FC28-F466-7D2E-6EBC1314D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196D7-2276-1B0A-9355-668446BD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7A58F-9C30-B8B0-445B-B50D1A0C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782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D2555-3DCC-B646-23BB-7F0CF379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66D22-3C9B-07D8-BBCB-67359460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15FC5-E87C-F3A0-5B65-688E7272D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5327F-5AB2-9DC3-92C4-48E5D0977A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FC5DF-8077-9440-AFB4-72F2B5E9AC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87ECC1-2AF1-102E-F8D0-96FFDD4F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4E87D9-FE5C-BACD-AE5B-B37D97AB3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E3225D-4A9C-F413-C407-BC8850B5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13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00B0-0A42-758F-1960-D95CC708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E22E9-3A9B-CF7A-5124-75E10AC15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35059-3DE6-B483-E616-4AAC8B28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DE933-A30E-D5FC-C359-CD5C5079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76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537C3-0216-052B-301D-4D31CC67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793B18-1FA7-18F0-3816-939C3FB5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A5BA6-79C2-2CD9-57A0-357F214A8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869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2BC1-EAC5-E9A9-EF55-9F685E134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12BE8-D052-1EFA-8C7C-7E3F6062F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BE5B23-0F1B-132E-3DB8-2097327AA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7B530-41AC-A09F-CCFC-03329E00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EED6F-842C-1326-1E92-7C167677D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824D6-24F4-A9BE-8B4A-42E963144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3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D8A9-D423-1AE2-EC37-79FCA25B6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85FD4F-6E4F-B51A-A3EB-0591F8DD2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B1D7A-C717-7289-A576-3853F93DB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200EB-24B6-C21F-56C3-31A3532D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12686-EE8E-730D-839E-144B4CD6B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1DD24-EA9F-250A-B2C1-C9A5BB72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85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0BC9-054E-9A73-D3DB-0399437E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E2BDC-4C48-9005-0185-D93953EF6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82B30-A60D-826F-EB59-341F9ABF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15663-7A9B-5535-129F-D1CBE643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A20A5-CB62-5A4F-B8E8-B5CA796D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808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A8226F-062F-C0BC-E89F-E51FF32DC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23249-AE83-4D37-4CAF-B5F73743E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465E-E613-AE19-A10C-45033290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7C7F2-7D80-5700-CAFA-BC19A6C3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8B7B3-301F-EB39-6192-97AB7D53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1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FCCD7-3DD9-4768-6E7E-8583116CA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97893-03CD-4FBE-7700-030D2BBF6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4E871-4263-7EDC-6855-D49057576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04-04-2026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A8FA-4252-7BC4-1588-C15E9ED58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830D2-E825-B8EE-1392-B74DD9A36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3190C-0188-4CB9-B279-ACB175A39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41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D5B1745B-BB47-BC47-67C1-29F9FAABA435}"/>
              </a:ext>
            </a:extLst>
          </p:cNvPr>
          <p:cNvSpPr txBox="1"/>
          <p:nvPr/>
        </p:nvSpPr>
        <p:spPr>
          <a:xfrm>
            <a:off x="80387" y="1770571"/>
            <a:ext cx="123393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drone-based disaster management and relief system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3CAAE7-C3EC-EC79-BB50-0232CBECC84E}"/>
              </a:ext>
            </a:extLst>
          </p:cNvPr>
          <p:cNvSpPr/>
          <p:nvPr/>
        </p:nvSpPr>
        <p:spPr>
          <a:xfrm>
            <a:off x="220717" y="189186"/>
            <a:ext cx="11719035" cy="64638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C96B0B-2BD3-7AB8-1042-636C9821D6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03"/>
          <a:stretch>
            <a:fillRect/>
          </a:stretch>
        </p:blipFill>
        <p:spPr>
          <a:xfrm>
            <a:off x="2683238" y="393505"/>
            <a:ext cx="6825523" cy="100023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EB3AE30-7226-DB5A-51B9-1A4BF7F258EE}"/>
              </a:ext>
            </a:extLst>
          </p:cNvPr>
          <p:cNvSpPr txBox="1"/>
          <p:nvPr/>
        </p:nvSpPr>
        <p:spPr>
          <a:xfrm>
            <a:off x="3897442" y="1401239"/>
            <a:ext cx="5486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Communication Engineering department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C2AF10-3D2F-1E9C-1A2B-CE76F8856283}"/>
              </a:ext>
            </a:extLst>
          </p:cNvPr>
          <p:cNvSpPr txBox="1"/>
          <p:nvPr/>
        </p:nvSpPr>
        <p:spPr>
          <a:xfrm>
            <a:off x="5093381" y="4017031"/>
            <a:ext cx="1973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REVIEW DETAILS  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996E6EA8-AE7B-90DB-62AC-6BEE97614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03CD1E-08D9-1778-9FBC-43F4613F38EE}"/>
              </a:ext>
            </a:extLst>
          </p:cNvPr>
          <p:cNvGrpSpPr/>
          <p:nvPr/>
        </p:nvGrpSpPr>
        <p:grpSpPr>
          <a:xfrm>
            <a:off x="478155" y="4671341"/>
            <a:ext cx="3463290" cy="1099196"/>
            <a:chOff x="533696" y="4082109"/>
            <a:chExt cx="3463290" cy="109919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3B238B-2982-3510-0D06-6D2E9EF1BA0C}"/>
                </a:ext>
              </a:extLst>
            </p:cNvPr>
            <p:cNvSpPr txBox="1"/>
            <p:nvPr/>
          </p:nvSpPr>
          <p:spPr>
            <a:xfrm>
              <a:off x="1088613" y="4082109"/>
              <a:ext cx="2353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MEMBERS OF GROUP 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906EE21-0BAD-C93F-CE78-FD1620405EAD}"/>
                </a:ext>
              </a:extLst>
            </p:cNvPr>
            <p:cNvSpPr txBox="1"/>
            <p:nvPr/>
          </p:nvSpPr>
          <p:spPr>
            <a:xfrm>
              <a:off x="533696" y="4534974"/>
              <a:ext cx="346329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/>
            </a:lstStyle>
            <a:p>
              <a:r>
                <a:rPr lang="en-IN" dirty="0"/>
                <a:t>V. Sai Eshwar (11229C012)</a:t>
              </a:r>
            </a:p>
            <a:p>
              <a:r>
                <a:rPr lang="en-IN" dirty="0"/>
                <a:t>Narendra Babu (11229C009)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0DE5367-4153-A922-60D0-D7D7E638E706}"/>
              </a:ext>
            </a:extLst>
          </p:cNvPr>
          <p:cNvGrpSpPr/>
          <p:nvPr/>
        </p:nvGrpSpPr>
        <p:grpSpPr>
          <a:xfrm>
            <a:off x="4977418" y="4654858"/>
            <a:ext cx="2237159" cy="1608634"/>
            <a:chOff x="5522062" y="4082109"/>
            <a:chExt cx="2237159" cy="160863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913FA2E-2FCA-F44B-D215-16175FD9C5D9}"/>
                </a:ext>
              </a:extLst>
            </p:cNvPr>
            <p:cNvSpPr txBox="1"/>
            <p:nvPr/>
          </p:nvSpPr>
          <p:spPr>
            <a:xfrm>
              <a:off x="5741232" y="4082109"/>
              <a:ext cx="1798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GUIDE DETAILS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88C975-937E-DDD8-C94D-46C4BE603FBE}"/>
                </a:ext>
              </a:extLst>
            </p:cNvPr>
            <p:cNvSpPr txBox="1"/>
            <p:nvPr/>
          </p:nvSpPr>
          <p:spPr>
            <a:xfrm>
              <a:off x="5522062" y="4490414"/>
              <a:ext cx="223715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/>
            </a:lstStyle>
            <a:p>
              <a:r>
                <a:rPr lang="en-IN" altLang="en-US" dirty="0"/>
                <a:t>Dr. V. Jayapradha</a:t>
              </a:r>
            </a:p>
            <a:p>
              <a:r>
                <a:rPr lang="en-IN" altLang="en-US" dirty="0"/>
                <a:t>Assistant Professor</a:t>
              </a:r>
            </a:p>
            <a:p>
              <a:r>
                <a:rPr lang="en-IN" altLang="en-US" dirty="0"/>
                <a:t>Department of ECE</a:t>
              </a:r>
            </a:p>
            <a:p>
              <a:r>
                <a:rPr lang="en-IN" altLang="en-US" dirty="0"/>
                <a:t>SCSVMV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21372-66BE-5CD3-4712-9366E0867BBF}"/>
              </a:ext>
            </a:extLst>
          </p:cNvPr>
          <p:cNvGrpSpPr/>
          <p:nvPr/>
        </p:nvGrpSpPr>
        <p:grpSpPr>
          <a:xfrm>
            <a:off x="8250550" y="4654858"/>
            <a:ext cx="2644372" cy="1553339"/>
            <a:chOff x="9306740" y="4098431"/>
            <a:chExt cx="2644372" cy="155333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CFB12F6-54C7-0232-60A9-097DDB406AC3}"/>
                </a:ext>
              </a:extLst>
            </p:cNvPr>
            <p:cNvSpPr txBox="1"/>
            <p:nvPr/>
          </p:nvSpPr>
          <p:spPr>
            <a:xfrm>
              <a:off x="9839215" y="4098431"/>
              <a:ext cx="1748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HOD DETAILS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F353FC-28A1-B4BE-A628-75E35B144F9B}"/>
                </a:ext>
              </a:extLst>
            </p:cNvPr>
            <p:cNvSpPr txBox="1"/>
            <p:nvPr/>
          </p:nvSpPr>
          <p:spPr>
            <a:xfrm>
              <a:off x="9306740" y="4451441"/>
              <a:ext cx="264437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Dr. G. Senthil Kumar</a:t>
              </a:r>
            </a:p>
            <a:p>
              <a:pPr algn="ctr"/>
              <a:r>
                <a:rPr lang="en-US" dirty="0"/>
                <a:t>Head of the Department Department of ECE</a:t>
              </a:r>
            </a:p>
            <a:p>
              <a:pPr algn="ctr"/>
              <a:r>
                <a:rPr lang="en-US" dirty="0"/>
                <a:t>SCSVMV</a:t>
              </a:r>
              <a:endParaRPr lang="en-IN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A9F7175-0526-2D4F-D89D-C4785AB225B0}"/>
              </a:ext>
            </a:extLst>
          </p:cNvPr>
          <p:cNvSpPr txBox="1"/>
          <p:nvPr/>
        </p:nvSpPr>
        <p:spPr>
          <a:xfrm>
            <a:off x="5547045" y="3379204"/>
            <a:ext cx="109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Review-II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AE698-392F-D065-EC09-AD84438D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24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852557-CFB7-AD47-FEDD-5A8F84867115}"/>
              </a:ext>
            </a:extLst>
          </p:cNvPr>
          <p:cNvSpPr txBox="1"/>
          <p:nvPr/>
        </p:nvSpPr>
        <p:spPr>
          <a:xfrm>
            <a:off x="4677960" y="204952"/>
            <a:ext cx="2836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CD44C4-2ABE-07D1-D8DC-D8274E311EEB}"/>
              </a:ext>
            </a:extLst>
          </p:cNvPr>
          <p:cNvSpPr/>
          <p:nvPr/>
        </p:nvSpPr>
        <p:spPr>
          <a:xfrm>
            <a:off x="220717" y="189186"/>
            <a:ext cx="11719035" cy="64638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ate Placeholder 26">
            <a:extLst>
              <a:ext uri="{FF2B5EF4-FFF2-40B4-BE49-F238E27FC236}">
                <a16:creationId xmlns:a16="http://schemas.microsoft.com/office/drawing/2014/main" id="{021D39AB-988F-050D-19C1-E2F68D1C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04-04-2026</a:t>
            </a:r>
            <a:endParaRPr lang="en-IN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9B23636D-2029-0DD5-919F-565A644E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49" y="847150"/>
            <a:ext cx="11061700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-guided AI-based autonomous drone system developed for disaster relief in remote and inaccessible regions. Unlike conventional UAVs that rely solely on GPS, the proposed system integrates dual navigation using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GPS, ensuring reliable operation even in signal-degraded environments. The drone employs AI-driven path planning using the A* algorithm, enabling real-time obstacle avoidance and dynamic rerouting. </a:t>
            </a:r>
          </a:p>
          <a:p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innovation is the integration of geofencing and regulatory compliance directly into the navigation system, allowing safe and autonomous operation without external supervision. The hardware platform includes a Pixhawk 6X flight controller, NVIDIA Jetson Nano for onboard AI processing, and a multi-sensor setup with LiDAR and camera modules. </a:t>
            </a:r>
          </a:p>
          <a:p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capable of delivering up to 5 kg of medical supplies using a GPS-tracked parachute mechanism. Additional features such as aerogel-based thermal protection and IP67 waterproofing enhance reliability in extreme disaster conditions. Overall, the proposed system reduces response time, improves navigation reliability, and minimizes human risk, making it a scalable and next-generation solution for intelligent disaster response.</a:t>
            </a: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9094B-364C-4F40-CEC6-4C36B9A7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01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1CABC8-8074-BECD-1908-4B512A59FE15}"/>
              </a:ext>
            </a:extLst>
          </p:cNvPr>
          <p:cNvSpPr txBox="1"/>
          <p:nvPr/>
        </p:nvSpPr>
        <p:spPr>
          <a:xfrm>
            <a:off x="3507440" y="204952"/>
            <a:ext cx="51455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LITRATURE SURVEY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8E7DE-9C24-86C5-FEFB-9A78892A7107}"/>
              </a:ext>
            </a:extLst>
          </p:cNvPr>
          <p:cNvSpPr/>
          <p:nvPr/>
        </p:nvSpPr>
        <p:spPr>
          <a:xfrm>
            <a:off x="220717" y="189186"/>
            <a:ext cx="11719035" cy="64638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ate Placeholder 26">
            <a:extLst>
              <a:ext uri="{FF2B5EF4-FFF2-40B4-BE49-F238E27FC236}">
                <a16:creationId xmlns:a16="http://schemas.microsoft.com/office/drawing/2014/main" id="{45955F59-30BD-E7C7-2EC0-9BD8CDDA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04-04-2026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C48870-80AA-289A-C7AB-D1262BC6B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688270"/>
              </p:ext>
            </p:extLst>
          </p:nvPr>
        </p:nvGraphicFramePr>
        <p:xfrm>
          <a:off x="838200" y="928603"/>
          <a:ext cx="10515600" cy="553748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9790515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895380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858281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901368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34541209"/>
                    </a:ext>
                  </a:extLst>
                </a:gridCol>
              </a:tblGrid>
              <a:tr h="2679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Category</a:t>
                      </a:r>
                      <a:endParaRPr lang="en-IN" sz="120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Study / System</a:t>
                      </a:r>
                      <a:endParaRPr lang="en-IN" sz="120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Key Features</a:t>
                      </a:r>
                      <a:endParaRPr lang="en-IN" sz="120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Limitations</a:t>
                      </a:r>
                      <a:endParaRPr lang="en-IN" sz="120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Research Gap Identified</a:t>
                      </a:r>
                      <a:endParaRPr lang="en-IN" sz="1200"/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3951189424"/>
                  </a:ext>
                </a:extLst>
              </a:tr>
              <a:tr h="61249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Disaster UAV Applications</a:t>
                      </a:r>
                      <a:endParaRPr lang="en-IN" sz="1200" dirty="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Zipline (2021)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Real-world drone-based medical delivery using GPS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No AI-based routing, limited adaptability in dynamic environments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Need intelligent and adaptive routing system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3852625424"/>
                  </a:ext>
                </a:extLst>
              </a:tr>
              <a:tr h="49765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600" dirty="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Nepal Earthquake UAVs (2015)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UAV-based disaster mapping and surveillance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Fully dependent on GPS, lacks autonomous navigation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Requires robust navigation in degraded signal conditions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727973282"/>
                  </a:ext>
                </a:extLst>
              </a:tr>
              <a:tr h="49765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600" dirty="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ResponDrone (EU Project)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Integrated platform for emergency response operations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No indigenous navigation support, limited autonomy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Need region-specific navigation + AI integration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4210879655"/>
                  </a:ext>
                </a:extLst>
              </a:tr>
              <a:tr h="38280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600" dirty="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CLARKE Project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Modular UAV system for disaster management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Requires manual mission planning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Need fully autonomous mission execution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793511959"/>
                  </a:ext>
                </a:extLst>
              </a:tr>
              <a:tr h="497651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Navigation Systems</a:t>
                      </a:r>
                      <a:endParaRPr lang="en-IN" sz="1200" dirty="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GPS-based Navigation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Global coverage, widely adopted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Signal loss in dense/disaster areas, prone to interference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Need multi-constellation and reliable navigation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68900655"/>
                  </a:ext>
                </a:extLst>
              </a:tr>
              <a:tr h="49765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600" dirty="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NavIC System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Indigenous system, high regional accuracy, dual-frequency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Limited adoption in UAV applications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Integration with UAV systems required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2935593838"/>
                  </a:ext>
                </a:extLst>
              </a:tr>
              <a:tr h="49765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600" dirty="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DGCA Drone Rules (2021)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Defines geofencing and restricted zones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Compliance handled externally, not autonomous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Need real-time embedded compliance system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3810392498"/>
                  </a:ext>
                </a:extLst>
              </a:tr>
              <a:tr h="61249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Technology Developments</a:t>
                      </a:r>
                      <a:endParaRPr lang="en-IN" sz="1200" dirty="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Aerogel Protection (NASA)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High thermal resistance (~1200°C), lightweight insulation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Not widely implemented in UAV systems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Need integration for extreme disaster conditions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3455140388"/>
                  </a:ext>
                </a:extLst>
              </a:tr>
              <a:tr h="49765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600" dirty="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AI Path Planning (A*, YOLO)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/>
                        <a:t>Enables obstacle avoidance and autonomous routing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Often used independently, not integrated with compliance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Need unified AI-navigation framework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3529793978"/>
                  </a:ext>
                </a:extLst>
              </a:tr>
              <a:tr h="49765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600" dirty="0"/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GPS-Tracked Payload Delivery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Real-time tracking and monitoring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Limited autonomous deployment mechanisms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Need smart and automated delivery systems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28680110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A9A89-2C37-E2A2-81F3-0E95EA0E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26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9A4225-071B-F6BB-B993-AC5F9C185501}"/>
              </a:ext>
            </a:extLst>
          </p:cNvPr>
          <p:cNvSpPr txBox="1"/>
          <p:nvPr/>
        </p:nvSpPr>
        <p:spPr>
          <a:xfrm>
            <a:off x="4028222" y="204952"/>
            <a:ext cx="41355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A8FA9F-0B33-6C72-728F-E790D0216DFC}"/>
              </a:ext>
            </a:extLst>
          </p:cNvPr>
          <p:cNvSpPr/>
          <p:nvPr/>
        </p:nvSpPr>
        <p:spPr>
          <a:xfrm>
            <a:off x="220717" y="189186"/>
            <a:ext cx="11719035" cy="64638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98A61-1A59-5444-9745-280E76CC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D39668-7914-6AB2-6F6E-FDAC90B93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102" y="912838"/>
            <a:ext cx="9551796" cy="536413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62DA6-B045-0076-DE18-BC413A1D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632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26B0AB-75FF-A2D7-BBE6-1F94056CB416}"/>
              </a:ext>
            </a:extLst>
          </p:cNvPr>
          <p:cNvSpPr txBox="1"/>
          <p:nvPr/>
        </p:nvSpPr>
        <p:spPr>
          <a:xfrm>
            <a:off x="1547329" y="204952"/>
            <a:ext cx="9065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PROGRESS SO FAR AND NEXT PHASE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AF9376-E5B6-04D3-5196-C20E4272E8AF}"/>
              </a:ext>
            </a:extLst>
          </p:cNvPr>
          <p:cNvSpPr/>
          <p:nvPr/>
        </p:nvSpPr>
        <p:spPr>
          <a:xfrm>
            <a:off x="220717" y="189186"/>
            <a:ext cx="11719035" cy="64638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ate Placeholder 26">
            <a:extLst>
              <a:ext uri="{FF2B5EF4-FFF2-40B4-BE49-F238E27FC236}">
                <a16:creationId xmlns:a16="http://schemas.microsoft.com/office/drawing/2014/main" id="{22E5C94B-4138-4BCB-7D17-146E65821D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04-04-2026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F035A-6525-6A0F-4505-73F06D3ACC91}"/>
              </a:ext>
            </a:extLst>
          </p:cNvPr>
          <p:cNvSpPr txBox="1"/>
          <p:nvPr/>
        </p:nvSpPr>
        <p:spPr>
          <a:xfrm>
            <a:off x="838200" y="956938"/>
            <a:ext cx="10515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Progress So Far: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Developed a </a:t>
            </a:r>
            <a:r>
              <a:rPr lang="en-IN" b="1" dirty="0"/>
              <a:t>working quadcopter drone prototype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Completed </a:t>
            </a:r>
            <a:r>
              <a:rPr lang="en-IN" b="1" dirty="0"/>
              <a:t>manual flight testing</a:t>
            </a:r>
            <a:r>
              <a:rPr lang="en-IN" dirty="0"/>
              <a:t> for stability and control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Successfully tested key flight modes: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Stabilize Mode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Altitude Hold Mode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Loiter / Hover Mode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Achieved </a:t>
            </a:r>
            <a:r>
              <a:rPr lang="en-IN" b="1" dirty="0"/>
              <a:t>basic automated functionalities</a:t>
            </a:r>
            <a:r>
              <a:rPr lang="en-IN" dirty="0"/>
              <a:t> for controlled flight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Next Phase: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Integrate </a:t>
            </a:r>
            <a:r>
              <a:rPr lang="en-IN" b="1" dirty="0"/>
              <a:t>autonomous navigation system</a:t>
            </a:r>
            <a:r>
              <a:rPr lang="en-IN" dirty="0"/>
              <a:t> into the prototype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AI-based path planning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Obstacle detection &amp; avoidance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Real-time decision-making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Simulate an </a:t>
            </a:r>
            <a:r>
              <a:rPr lang="en-IN" b="1" dirty="0"/>
              <a:t>autonomous hexacopter drone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Tools: </a:t>
            </a:r>
            <a:r>
              <a:rPr lang="en-IN" b="1" dirty="0"/>
              <a:t>Gazebo / NVIDIA Isaac Sim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Focus on enhancing </a:t>
            </a:r>
            <a:r>
              <a:rPr lang="en-IN" b="1" dirty="0"/>
              <a:t>payload capacity, stability, and robustness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A4869-21DF-45E7-F795-F50D372A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017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4884D-6EA1-9834-1298-68C09FB5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AF9376-E5B6-04D3-5196-C20E4272E8AF}"/>
              </a:ext>
            </a:extLst>
          </p:cNvPr>
          <p:cNvSpPr/>
          <p:nvPr/>
        </p:nvSpPr>
        <p:spPr>
          <a:xfrm>
            <a:off x="236482" y="197069"/>
            <a:ext cx="11719035" cy="64638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FF061-6BFF-5FC7-E6B7-89C74EE281D6}"/>
              </a:ext>
            </a:extLst>
          </p:cNvPr>
          <p:cNvSpPr txBox="1"/>
          <p:nvPr/>
        </p:nvSpPr>
        <p:spPr>
          <a:xfrm>
            <a:off x="5063990" y="197069"/>
            <a:ext cx="2211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6C7E6-8533-23D4-B68E-2C2C2C4A8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42" y="1018579"/>
            <a:ext cx="4141062" cy="52772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D4BA92-601D-4FED-1A04-448F3AA18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748" y="1680367"/>
            <a:ext cx="7358925" cy="39536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84AC0-8E49-8050-FB9D-A78382EA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51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6127D1-2A53-0816-F3FD-D5663124C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04-04-2026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AF9376-E5B6-04D3-5196-C20E4272E8AF}"/>
              </a:ext>
            </a:extLst>
          </p:cNvPr>
          <p:cNvSpPr/>
          <p:nvPr/>
        </p:nvSpPr>
        <p:spPr>
          <a:xfrm>
            <a:off x="236482" y="197069"/>
            <a:ext cx="11719035" cy="64638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76FC5-F927-2318-511F-938CE305D481}"/>
              </a:ext>
            </a:extLst>
          </p:cNvPr>
          <p:cNvSpPr txBox="1"/>
          <p:nvPr/>
        </p:nvSpPr>
        <p:spPr>
          <a:xfrm>
            <a:off x="4358336" y="197069"/>
            <a:ext cx="3475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A3DD45-0FF1-D9FD-B6D5-EA00ABEB0503}"/>
              </a:ext>
            </a:extLst>
          </p:cNvPr>
          <p:cNvSpPr txBox="1"/>
          <p:nvPr/>
        </p:nvSpPr>
        <p:spPr>
          <a:xfrm>
            <a:off x="838198" y="904955"/>
            <a:ext cx="10515600" cy="545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Y. Chang, J. Park, and H. Kim, “A Review of UAV Autonomous Navigation in GPS-Denied Environments,” </a:t>
            </a:r>
            <a:r>
              <a:rPr lang="en-IN" i="1" dirty="0"/>
              <a:t>Journal of Navigation Systems</a:t>
            </a:r>
            <a:r>
              <a:rPr lang="en-IN" dirty="0"/>
              <a:t>, 2023.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Z. T. </a:t>
            </a:r>
            <a:r>
              <a:rPr lang="en-IN" dirty="0" err="1"/>
              <a:t>AlAli</a:t>
            </a:r>
            <a:r>
              <a:rPr lang="en-IN" dirty="0"/>
              <a:t> and A. El-</a:t>
            </a:r>
            <a:r>
              <a:rPr lang="en-IN" dirty="0" err="1"/>
              <a:t>Dahrawy</a:t>
            </a:r>
            <a:r>
              <a:rPr lang="en-IN" dirty="0"/>
              <a:t>, “The Role of UAVs in Disaster Management: Recent Progress and Challenges,” </a:t>
            </a:r>
            <a:r>
              <a:rPr lang="en-IN" i="1" dirty="0" err="1"/>
              <a:t>Heliyon</a:t>
            </a:r>
            <a:r>
              <a:rPr lang="en-IN" i="1" dirty="0"/>
              <a:t> / Computers &amp; Geosciences</a:t>
            </a:r>
            <a:r>
              <a:rPr lang="en-IN" dirty="0"/>
              <a:t>, 2022.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P. R. Thomas and P. Sarhadi, “Geofencing Motion Planning for UAVs Using Anticipatory Range Control Algorithm,” </a:t>
            </a:r>
            <a:r>
              <a:rPr lang="en-IN" i="1" dirty="0"/>
              <a:t>Machines</a:t>
            </a:r>
            <a:r>
              <a:rPr lang="en-IN" dirty="0"/>
              <a:t>, vol. 12, no. 1, 2024.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Y. Sheng, “UAV Autonomous Navigation Based on Deep Reinforcement Learning,” </a:t>
            </a:r>
            <a:r>
              <a:rPr lang="en-IN" i="1" dirty="0"/>
              <a:t>Drones</a:t>
            </a:r>
            <a:r>
              <a:rPr lang="en-IN" dirty="0"/>
              <a:t>, vol. 8, no. 9, 2024.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Indian Space Research Organisation (ISRO), “</a:t>
            </a:r>
            <a:r>
              <a:rPr lang="en-IN" dirty="0" err="1"/>
              <a:t>NavIC</a:t>
            </a:r>
            <a:r>
              <a:rPr lang="en-IN" dirty="0"/>
              <a:t> – Satellite Navigation System Overview,” 2022–2023.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ISRO Press Release, “NVS-02: Advancing India’s Regional Navigation Capabilities,” Jan 2025.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Zipline International Inc., “Drone-Based Medical Delivery System,” 2021.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Government of India, “DGCA Drone Rules 2021,” Directorate General of Civil Aviation.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888845-0ECA-D5A3-A29C-81C64994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48D533-D335-B97D-DC49-0BB6750AE7B6}"/>
              </a:ext>
            </a:extLst>
          </p:cNvPr>
          <p:cNvSpPr txBox="1"/>
          <p:nvPr/>
        </p:nvSpPr>
        <p:spPr>
          <a:xfrm>
            <a:off x="4487289" y="3075057"/>
            <a:ext cx="3217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37258B-9AF5-E8FE-632F-D08A61BBBB84}"/>
              </a:ext>
            </a:extLst>
          </p:cNvPr>
          <p:cNvSpPr/>
          <p:nvPr/>
        </p:nvSpPr>
        <p:spPr>
          <a:xfrm>
            <a:off x="220717" y="189186"/>
            <a:ext cx="11719035" cy="64638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ate Placeholder 26">
            <a:extLst>
              <a:ext uri="{FF2B5EF4-FFF2-40B4-BE49-F238E27FC236}">
                <a16:creationId xmlns:a16="http://schemas.microsoft.com/office/drawing/2014/main" id="{5F70629E-7294-14FE-DFE5-531031CE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04-04-2026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DB9E4-D42B-9581-6114-8FA9AAF8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3190C-0188-4CB9-B279-ACB175A3911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349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794</Words>
  <Application>Microsoft Office PowerPoint</Application>
  <PresentationFormat>Widescreen</PresentationFormat>
  <Paragraphs>120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A</dc:creator>
  <cp:lastModifiedBy>SAI ESHWAR</cp:lastModifiedBy>
  <cp:revision>20</cp:revision>
  <dcterms:created xsi:type="dcterms:W3CDTF">2026-03-31T06:04:53Z</dcterms:created>
  <dcterms:modified xsi:type="dcterms:W3CDTF">2026-04-03T10:38:25Z</dcterms:modified>
</cp:coreProperties>
</file>